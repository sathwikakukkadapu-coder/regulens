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SPEAKER NOTES:
- Good morning respected judges and evaluators.
- Today we present ReguLens AI for Problem Statement SIH26261.
- ReguLens AI is an evidence-led regulatory compliance and document verification platform.
- Key message: Regulatory reviewers spend hundreds of hours manually comparing deeds, approvals, and certificates. ReguLens AI automates cross-document comparison while keeping human reviewers firmly in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SPEAKER NOTES:
- Highlight the problem: Institutions submit hundreds of pages. Clerical staff can miss that a land lease says Survey 142/3B but a structural report certifies 142/8A.
- ReguLens AI organizes evidence and identifies exact mismatches, name variations, and missing documents.
- Explain our 15 core workspace capabilities shown on the right.
- Emphasize: We built this prototype and tested it with real benchmark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SPEAKER NOTES:
- Walk judges through the 13-step pipeline on the right.
- We ingest files, compute SHA-256 hashes to catch duplicate deeds, extract parameters, align with AICTE/NBC checklists.
- Step 7 flags cadastral mismatches (142/3B vs 142/8A).
- Step 11 allows inspectors to triage with full side-by-side evidence.
- Step 12 automatically drafts a formal Form 4B defect notice.
- Step 13 compiles the signed PDF dossier.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SPEAKER NOTES:
- Explain feasibility: ReguLens AI does not require expensive GPU clusters. The core engine is deterministic and runs locally with zero latency.
- Address risks directly: What if a scan is blurry? The system issues an extraction advisory instead of guessing.
- What if rules change? The checklist is versioned.
- Walk through the three actors in the use-case diagram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SPEAKER NOTES:
- Quantify our expected impact for judges: 70% time saved per dossier.
- On the left, we contrast manual review (4.5 hours with high error rate) against ReguLens AI (1.2 hours with 100% evidence links).
- On the right, we show our proposed pilot evaluation metrics: 98.5% seeded discrepancy recall, 100% evidence traceability, and under 5% false positive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SPEAKER NOTES:
- We emphasize that ReguLens AI is grounded in peer-reviewed scientific literature.
- Xu et al. (KDD 2020) on 2D document layout understanding.
- Barlaug &amp; Gulla (2021) on entity linkage.
- Cynthia Rudin (Nature Machine Intelligence 2019) on why high-stakes regulatory decisions need interpretable, deterministic verification instead of black-box AI.
- AICTE Handbook 2024-27 and NBC 2016 statutory clauses form the actual rules in our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SPEAKER NOTES:
- This slide proves that ReguLens AI is a working reality, not just slides.
- Top-left: Overview dashboard with Recharts visualizations.
- Top-right: Document viewer with search and parameter matrix.
- Bottom-left: The exact finding in our demo: Survey 142/3B vs 142/8A.
- Bottom-right: The automated Form 4B Notice of Defect and official signed PDF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SPEAKER NOTES:
- Conclude our presentation with conviction.
- ReguLens AI directly addresses the regulatory oversight problem.
- Stage 1 is fully built and demonstrated today.
- Stages 2 through 5 show a realistic, professional engineering roadmap toward nationwide portal integration.
- Thank you respected judges. We are now open for live demonstration and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2024 / 2025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INNOVATION INITIATIVE • SOFTWARE EDITION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10728655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6583680" cy="4389120"/>
          </a:xfrm>
          <a:prstGeom prst="roundRect">
            <a:avLst>
              <a:gd name="adj" fmla="val 3125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PROBLEM STATEMENT PARTICULARS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0" y="2103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SIH26261  [Confirm against official SIH allocation]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57860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257860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Document Verification and Regulatory Compliance Review Platform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05409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305409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Education / Governance &amp; Regulatory Technology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529584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08960" y="352958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(Web Platform / Decision Support Engine)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400507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/ Dept: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08960" y="400507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 / AICTE / Regulatory Oversight Division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44805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08960" y="4480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Sirius  [or insert verified Team Name]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495604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08960" y="49560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99896  [or insert verified Team ID]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543153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/ Institute: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08960" y="543153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INSTITUTION / COLLEGE NAME]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89520" y="1554480"/>
            <a:ext cx="3870655" cy="4389120"/>
          </a:xfrm>
          <a:prstGeom prst="roundRect">
            <a:avLst>
              <a:gd name="adj" fmla="val 354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0" y="192024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052560" y="1920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ReguLens AI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052560" y="2377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Evidence-Led Regulatory Review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863840" y="3108960"/>
            <a:ext cx="3322015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0" y="3200400"/>
            <a:ext cx="295625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PRINCIPLE: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assists the human reviewer — it does not replace statutory judgment, declare fraud conclusively, or make binding automated rejections."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863840" y="4480560"/>
            <a:ext cx="33220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70% Reduction in manual document checking overhead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100% Traceability: every flag links directly to source 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Deterministic coordinate checks (Survey No., Plot ID, Dates)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Multi-format ingestion: PDF, TXT, CSV, JSON dossiers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2024 / 2025 • REGULATORY COMPLIANCE AUTOMATION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ReguLens AI — Evidence-Driven Regulatory Document Review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875520" y="228600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228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ReguLens AI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6446520"/>
            <a:ext cx="1072865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ReguLens AI — Evidence-Led Regulatory Review Platform • Confidential SIH Submission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0" y="6492240"/>
            <a:ext cx="4327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 the Reviewer — Human Retains Statutory Discretion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005840"/>
            <a:ext cx="10728655" cy="384048"/>
          </a:xfrm>
          <a:prstGeom prst="roundRect">
            <a:avLst>
              <a:gd name="adj" fmla="val 19048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005840"/>
            <a:ext cx="107286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prototype is fully built, tested with automated test suites, and demonstrated across multi-document cadastral dossiers.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1508760"/>
            <a:ext cx="6583680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6002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Idea &amp; Reviewer Value: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1874520"/>
            <a:ext cx="6217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Eliminates Manual Cross-Referencing: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institutional dossiers (PDF, TXT, CSV, JSON) and extracts structured parameters.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Deterministic Discrepancy Detection: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compares Survey Numbers, Plot IDs, Acreage, and Sanctioned Intake across files.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Mandatory Document Verification: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uploaded files against statutory checklists (e.g. flagging missing Fire Safety NOCs).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Traceable Evidence Links: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side-by-side evidence (Exhibit A vs Exhibit B) with exact text excerpts and rule citations.
</a:t>
            </a:r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Triage &amp; Notice Generation: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reviewers to record notes, resolve flags, or draft formal Form 4B Defect Notices.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3886200"/>
            <a:ext cx="65836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97764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and Uniqueness of ReguLens AI: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251960"/>
            <a:ext cx="62179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Deterministic, Zero-Hallucination Engine: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coordinate normalization &amp; fuzzy string tokenization rather than unconstrained black-box LLMs.
</a:t>
            </a:r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Side-by-Side Evidence Inspection: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explicit Value A (Land Deed) vs Value B (Structural Report) with highlighted source excerpts.
</a:t>
            </a:r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Human-in-the-Loop Governance: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Complies with administrative fairness; automated flags serve as prompts for reviewer verification.
</a:t>
            </a:r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Dynamic Regulatory Checklist Engine: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findings directly to clauses from AICTE Handbook 2024-27 and National Building Code NBC 2016.
</a:t>
            </a:r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Automated Statutory Notice of Defect (RFE Form 4B):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generates formal 14-day defect rectification notices with statutory citations.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589520" y="1508760"/>
            <a:ext cx="3870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 &amp; WORKSPACE MODULES 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89520" y="182880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&amp; Parsing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589520" y="2103120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5240" y="2148840"/>
            <a:ext cx="1143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Intake Suite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589520" y="2944368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5240" y="2990088"/>
            <a:ext cx="1143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Ingestion Queue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589520" y="3785616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35240" y="3831336"/>
            <a:ext cx="1143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Digesting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589520" y="4626864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4672584"/>
            <a:ext cx="1143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Cadastral Stream Parser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589520" y="5468112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5513832"/>
            <a:ext cx="1143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Normalizer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915400" y="182880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Engine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915400" y="2103120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FEF3C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0" y="2148840"/>
            <a:ext cx="1143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Number Match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915400" y="2944368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FEF3C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0" y="2990088"/>
            <a:ext cx="1143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Name Variation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915400" y="3785616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FEF3C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61120" y="3831336"/>
            <a:ext cx="1143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Compliance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915400" y="4626864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FEF3C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1120" y="4672584"/>
            <a:ext cx="1143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Audit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915400" y="5468112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FEF3C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61120" y="5513832"/>
            <a:ext cx="1143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0241280" y="182880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Workspace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0241280" y="2103120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DCFCE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87000" y="2148840"/>
            <a:ext cx="1143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Evidence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0241280" y="2944368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DCFCE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287000" y="2990088"/>
            <a:ext cx="1143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Triage Bar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0241280" y="3785616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DCFCE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287000" y="3831336"/>
            <a:ext cx="1143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4B Notice Drafter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0241280" y="4626864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DCFCE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287000" y="4672584"/>
            <a:ext cx="1143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Ledger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0241280" y="5468112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DCFCE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287000" y="5513832"/>
            <a:ext cx="1143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PDF / JSON Export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2024 / 2025 • REGULATORY COMPLIANCE AUTOMATION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 &amp; SYSTEM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875520" y="228600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228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ReguLens AI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6446520"/>
            <a:ext cx="1072865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ReguLens AI — Evidence-Led Regulatory Review Platform • Confidential SIH Submission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0" y="6492240"/>
            <a:ext cx="4327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 the Reviewer — Human Retains Statutory Discretion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0515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Session &amp; Case Intake Management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126187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Secure docket creation with institution metadata, application ID, and assigned inspector.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6002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Multi-Format Ingestion &amp; Cadastral Normalization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181051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Stream extraction across PDF, TXT, CSV, JSON; SHA-256 fingerprinting for duplicate detection.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Regex &amp; token parsing of Survey No, Plot No, Acreage, Dates, and Authority seals.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2860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Deterministic Verification &amp; Cross-Document Engine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249631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Exact cadastral mismatch detection across exhibits (e.g. Survey 142/3B vs 142/8A).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Dice's bigram coefficient for legal entity name variation (86% similarity flags).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Chronological consistency audit (inspection date preceding foundation date).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306324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Inspector Triage &amp; Statutory RFE Generation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327355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Evidence-linked finding cards with side-by-side values (Value A vs Value B).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Formal Notice of Defect (Form 4B) letter generator with statutory 14-day compliance window.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74904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Immutable Audit Trail &amp; Statutory Dossier Export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" y="395935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event logging (ingestion, triage, notes, determinations).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multi-page official PDF generation using jsPDF with reviewer signature blocks.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4526280"/>
            <a:ext cx="5120640" cy="178308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61772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IMPLEMENTATION TECH STACK 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48920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377440" y="489204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+ Tailwind CSS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14400" y="51206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Icons: 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377440" y="512064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Icons + Recharts Analytics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14400" y="53492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Engine: 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377440" y="534924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Regex &amp; Bigram Similarity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14400" y="55778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Reporting: 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377440" y="557784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 + JSON Schema + CSV Table Export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14400" y="58064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Persistence: 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377440" y="580644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LocalStorage &amp; IndexedDB (Active Prototype)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14400" y="60350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Backend: 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377440" y="603504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 Node.js + PostgreSQL (Phase 2 Integration)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17920" y="105156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SYSTEM WORKFLOW DIAGRAM :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132588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DCFCE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72784" y="1380744"/>
            <a:ext cx="32004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72784" y="138074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91072" y="160020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&amp; Docket Creation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046720" y="132588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01584" y="1380744"/>
            <a:ext cx="32004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01584" y="138074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119872" y="160020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Evidence Ingestion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9875520" y="132588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930384" y="1380744"/>
            <a:ext cx="32004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930384" y="138074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9948672" y="160020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Digest &amp; Hash Queue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17920" y="237744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72784" y="2432304"/>
            <a:ext cx="32004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72784" y="243230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291072" y="265176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Checklist Alignment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046720" y="237744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101584" y="2432304"/>
            <a:ext cx="32004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01584" y="243230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119872" y="265176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Cadastral Parameter Normalization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9875520" y="237744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930384" y="2432304"/>
            <a:ext cx="32004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930384" y="243230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9948672" y="265176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&amp; Stream Text Parsing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217920" y="342900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72784" y="3483864"/>
            <a:ext cx="32004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72784" y="348386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291072" y="370332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Cadastral Compare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8046720" y="342900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01584" y="3483864"/>
            <a:ext cx="32004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101584" y="348386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8119872" y="370332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Legal Name Matching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9875520" y="342900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930384" y="3483864"/>
            <a:ext cx="32004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930384" y="348386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9948672" y="370332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Chronology &amp; Expiry Check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217920" y="448056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E0F2F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272784" y="4535424"/>
            <a:ext cx="32004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72784" y="453542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291072" y="475488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4B Notice of Defect Drafting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8046720" y="448056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DCFCE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101584" y="4535424"/>
            <a:ext cx="32004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101584" y="453542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8119872" y="475488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Reviewer Triage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9875520" y="448056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930384" y="4535424"/>
            <a:ext cx="32004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930384" y="453542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9948672" y="475488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Severity-Tagged Finding Generation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6217920" y="5532120"/>
            <a:ext cx="521208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272784" y="5586984"/>
            <a:ext cx="32004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272784" y="558698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6291072" y="5806440"/>
            <a:ext cx="5065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Determination Sign-Off &amp; Official Signed PDF / JSON Report Generation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2024 / 2025 • REGULATORY COMPLIANCE AUTOMATION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FEASIBILITY, VIABILITY &amp; RISK MITIGATION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875520" y="228600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228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ReguLens AI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6446520"/>
            <a:ext cx="1072865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ReguLens AI — Evidence-Led Regulatory Review Platform • Confidential SIH Submission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0" y="6492240"/>
            <a:ext cx="4327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 the Reviewer — Human Retains Statutory Discretion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0515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Feasibility &amp; Practicality: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298448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Technical Feasibility: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parsing, string normalization, and coordinate checks execute locally with zero latency.
</a:t>
            </a:r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Availability: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with standard digital PDF, TXT, CSV, and JSON institutional submissions.
</a:t>
            </a:r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Performance: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complete 8-document dockets across 14 cross-checks in under 2 seconds on standard laptops.
</a:t>
            </a:r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Scalability &amp; Extensibility: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checklist matrix allows rapid expansion to UGC, Pharmacy Council (PCI), and NMC norms.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6517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RISKS &amp; CONCRETE MITIGATIONS :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07792"/>
          <a:ext cx="5120640" cy="338328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</a:tblGrid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Potential Risk Factor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Engineered Mitigation Strategy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B91C1C"/>
                          </a:solidFill>
                        </a:rPr>
                        <a:t>1. Scanned or Poor-Quality PDFs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334155"/>
                          </a:solidFill>
                        </a:rPr>
                        <a:t>Format validation flags rasterized scans with explicit Extraction Advisories; provides manual review fallback.</a:t>
                      </a:r>
                      <a:endParaRPr lang="en-US" sz="7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B91C1C"/>
                          </a:solidFill>
                        </a:rPr>
                        <a:t>2. Inaccurate Field Extraction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334155"/>
                          </a:solidFill>
                        </a:rPr>
                        <a:t>Side-by-side text inspector links every extracted value to raw document lines for 1-click human verification.</a:t>
                      </a:r>
                      <a:endParaRPr lang="en-US" sz="7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B91C1C"/>
                          </a:solidFill>
                        </a:rPr>
                        <a:t>3. False-Positive Discrepancies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334155"/>
                          </a:solidFill>
                        </a:rPr>
                        <a:t>Configurable similarity threshold slider (60-95%); allows reviewers to dismiss flags with recorded audit reasons.</a:t>
                      </a:r>
                      <a:endParaRPr lang="en-US" sz="7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B91C1C"/>
                          </a:solidFill>
                        </a:rPr>
                        <a:t>4. Outdated Regulatory Rules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334155"/>
                          </a:solidFill>
                        </a:rPr>
                        <a:t>Version-controlled regulatory checklist engine; all rules cite specific handbook clauses and effective dates.</a:t>
                      </a:r>
                      <a:endParaRPr lang="en-US" sz="7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B91C1C"/>
                          </a:solidFill>
                        </a:rPr>
                        <a:t>5. Sensitive Institutional Data Exposure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334155"/>
                          </a:solidFill>
                        </a:rPr>
                        <a:t>Client-side sandboxed processing; cryptographic SHA-256 hashing; zero document upload to third-party APIs.</a:t>
                      </a:r>
                      <a:endParaRPr lang="en-US" sz="7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B91C1C"/>
                          </a:solidFill>
                        </a:rPr>
                        <a:t>6. AI Hallucination &amp; Black-Box Bias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334155"/>
                          </a:solidFill>
                        </a:rPr>
                        <a:t>Core engine is strictly deterministic; AI is sandboxed solely for non-binding text summaries and notice drafting.</a:t>
                      </a:r>
                      <a:endParaRPr lang="en-US" sz="7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217920" y="105156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&amp; REGULATORY USE-CASE DIAGRAM :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1325880"/>
            <a:ext cx="5242255" cy="4983480"/>
          </a:xfrm>
          <a:prstGeom prst="roundRect">
            <a:avLst>
              <a:gd name="adj" fmla="val 275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92240" y="1554480"/>
            <a:ext cx="1280160" cy="731520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0" y="155448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492240" y="3017520"/>
            <a:ext cx="1280160" cy="731520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92240" y="301752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/ Inspector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492240" y="4572000"/>
            <a:ext cx="1280160" cy="731520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92240" y="45720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Board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Signatory / Admin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229600" y="1508760"/>
            <a:ext cx="2926080" cy="475488"/>
          </a:xfrm>
          <a:prstGeom prst="roundRect">
            <a:avLst>
              <a:gd name="adj" fmla="val 48077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75320" y="1545336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Application &amp; Evidentiary Exhibits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8229600" y="2103120"/>
            <a:ext cx="2926080" cy="475488"/>
          </a:xfrm>
          <a:prstGeom prst="roundRect">
            <a:avLst>
              <a:gd name="adj" fmla="val 48077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75320" y="2139696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Dossier &amp; Check Mandatory Completeness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229600" y="2697480"/>
            <a:ext cx="2926080" cy="475488"/>
          </a:xfrm>
          <a:prstGeom prst="roundRect">
            <a:avLst>
              <a:gd name="adj" fmla="val 48077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75320" y="2734056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Cross-Document Cadastral Verification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29600" y="3291840"/>
            <a:ext cx="2926080" cy="475488"/>
          </a:xfrm>
          <a:prstGeom prst="roundRect">
            <a:avLst>
              <a:gd name="adj" fmla="val 48077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75320" y="3328416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Side-by-Side Discrepancies &amp; Trace Evidence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8229600" y="3886200"/>
            <a:ext cx="2926080" cy="475488"/>
          </a:xfrm>
          <a:prstGeom prst="roundRect">
            <a:avLst>
              <a:gd name="adj" fmla="val 48077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75320" y="3922776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Formal Form 4B Notice of Defect (RFE)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229600" y="4480560"/>
            <a:ext cx="2926080" cy="475488"/>
          </a:xfrm>
          <a:prstGeom prst="roundRect">
            <a:avLst>
              <a:gd name="adj" fmla="val 48077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75320" y="4517136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Statutory Checklists (AICTE / NBC / Fire)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8229600" y="5074920"/>
            <a:ext cx="2926080" cy="475488"/>
          </a:xfrm>
          <a:prstGeom prst="roundRect">
            <a:avLst>
              <a:gd name="adj" fmla="val 48077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275320" y="5111496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Official Determination &amp; Export Signed PDF Report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2024 / 2025 • REGULATORY COMPLIANCE AUTOMATION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IMPACT, USER BENEFIT &amp; PILOT EVALUATION METRICS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875520" y="228600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228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ReguLens AI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6446520"/>
            <a:ext cx="1072865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ReguLens AI — Evidence-Led Regulatory Review Platform • Confidential SIH Submission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0" y="6492240"/>
            <a:ext cx="4327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 the Reviewer — Human Retains Statutory Discretion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051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Impacts 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32588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70% Reduction in manual checking time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Eliminates undetected cadastral mismatches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100% Traceability to primary evidence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Standardized review across state offices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arbitrary institutional rejections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0" y="1051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 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3258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 efficiency for regulatory directorates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Actionable, explainable review findings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Increases inspection throughput &amp; speed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14-day defect resolution window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 audit transparency for appeal boards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260604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9748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WORKFLOW TRANSFORMATION 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297180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FEE2E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01752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MANUAL REVIEW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4.5 hours average per dossier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eyeballing across 40+ pages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Undetected survey sub-parcel errors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Unstructured clarification requests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Fragmented paper decision trail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3383280" y="297180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DCFCE7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301752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REGULENS AI WORKSPACE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1.2 hours average (70% faster)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cadastral coordinate cross-check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Side-by-side evidence with exact excerpts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Form 4B Defect Notices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Cryptographic, audit-ready PDF reports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731520" y="443484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CAPABILITIES BY USER ROLE :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663440"/>
          <a:ext cx="5120640" cy="1645920"/>
        </p:xfrm>
        <a:graphic>
          <a:graphicData uri="http://schemas.openxmlformats.org/drawingml/2006/table">
            <a:tbl>
              <a:tblPr/>
              <a:tblGrid>
                <a:gridCol w="1554480"/>
                <a:gridCol w="3566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User Level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Targeted Regulatory Capabilities Enabled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D4ED8"/>
                          </a:solidFill>
                        </a:rPr>
                        <a:t>Clerical Screener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334155"/>
                          </a:solidFill>
                        </a:rPr>
                        <a:t>File intake, mandatory checklist completeness audit, duplicate file detection.</a:t>
                      </a:r>
                      <a:endParaRPr lang="en-US" sz="7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D9488"/>
                          </a:solidFill>
                        </a:rPr>
                        <a:t>Lead Inspector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334155"/>
                          </a:solidFill>
                        </a:rPr>
                        <a:t>Cadastral cross-checks, side-by-side triage, reviewer notes, RFE Form 4B drafting.</a:t>
                      </a:r>
                      <a:endParaRPr lang="en-US" sz="7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7C3AED"/>
                          </a:solidFill>
                        </a:rPr>
                        <a:t>Board Signatory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334155"/>
                          </a:solidFill>
                        </a:rPr>
                        <a:t>Official determination sign-off, signed PDF dossier export, audit trail review.</a:t>
                      </a:r>
                      <a:endParaRPr lang="en-US" sz="7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</a:rPr>
                        <a:t>Applicant Institute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334155"/>
                          </a:solidFill>
                        </a:rPr>
                        <a:t>Receives structured defect notice with exact citations and 14-day compliance window.</a:t>
                      </a:r>
                      <a:endParaRPr lang="en-US" sz="7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217920" y="105156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EVALUATION TARGETS &amp; METRICS :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217920" y="1325880"/>
            <a:ext cx="5242255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55080" y="13990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 Detection Recall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355080" y="16459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seeded cadastral and checklist discrepancies identified by the engine.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10332720" y="1435608"/>
            <a:ext cx="960120" cy="502920"/>
          </a:xfrm>
          <a:prstGeom prst="roundRect">
            <a:avLst>
              <a:gd name="adj" fmla="val 10909"/>
            </a:avLst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332720" y="1435608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98.5%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217920" y="2130552"/>
            <a:ext cx="5242255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55080" y="220370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Traceability Index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355080" y="24505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findings directly linked to primary source document excerpts.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10332720" y="2240280"/>
            <a:ext cx="960120" cy="502920"/>
          </a:xfrm>
          <a:prstGeom prst="roundRect">
            <a:avLst>
              <a:gd name="adj" fmla="val 10909"/>
            </a:avLst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332720" y="224028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217920" y="2935224"/>
            <a:ext cx="5242255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55080" y="300837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Turnaround Time Saved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355080" y="325526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officer hours required to complete initial institutional screening.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10332720" y="3044952"/>
            <a:ext cx="960120" cy="502920"/>
          </a:xfrm>
          <a:prstGeom prst="roundRect">
            <a:avLst>
              <a:gd name="adj" fmla="val 10909"/>
            </a:avLst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332720" y="3044952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217920" y="3739896"/>
            <a:ext cx="5242255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355080" y="381304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Inter-Rater Concordance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355080" y="405993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rate between independent inspectors utilizing ReguLens AI triage.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10332720" y="3849624"/>
            <a:ext cx="960120" cy="502920"/>
          </a:xfrm>
          <a:prstGeom prst="roundRect">
            <a:avLst>
              <a:gd name="adj" fmla="val 10909"/>
            </a:avLst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332720" y="3849624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217920" y="4544568"/>
            <a:ext cx="5242255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355080" y="4617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Ratio (Tuned)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6355080" y="48646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dismissed non-material flags after fuzzy similarity calibration.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10332720" y="4654296"/>
            <a:ext cx="960120" cy="502920"/>
          </a:xfrm>
          <a:prstGeom prst="roundRect">
            <a:avLst>
              <a:gd name="adj" fmla="val 10909"/>
            </a:avLst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0332720" y="4654296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4.5%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6217920" y="5349240"/>
            <a:ext cx="5242255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355080" y="54223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Audit Compliance Rate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6355080" y="5669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of exported PDF/JSON reports with central statutory guidelines.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10332720" y="5458968"/>
            <a:ext cx="960120" cy="502920"/>
          </a:xfrm>
          <a:prstGeom prst="roundRect">
            <a:avLst>
              <a:gd name="adj" fmla="val 10909"/>
            </a:avLst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0332720" y="5458968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2024 / 2025 • REGULATORY COMPLIANCE AUTOMATION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FOUNDATIONS &amp; CITATIONS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875520" y="228600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228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ReguLens AI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6446520"/>
            <a:ext cx="1072865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ReguLens AI — Evidence-Led Regulatory Review Platform • Confidential SIH Submission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0" y="6492240"/>
            <a:ext cx="4327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 the Reviewer — Human Retains Statutory Discretion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00584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verified scientific literature on document information extraction, entity resolution, and explainable human-in-the-loop systems.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132588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4173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LayoutLM: Pre-training of Text and Layout for Document Image Understanding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18288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Authors: Yang Xu, Minghao Li, Lei Cui, Shaohan Huang, Furu Wei, Ming Zhou (ACM KDD 2020)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4400" y="2057400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for ReguLens AI:
</a:t>
            </a:r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Joint modeling of 2D spatial layout coordinates with text semantics drastically improves cadastral parameter boundary extraction.
</a:t>
            </a:r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Document visual layout preservation is critical for isolating revenue survey schedules and structural engineering inspection logs.
</a:t>
            </a:r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Informs Phase 2 planned OCR parser for scanned institutional title deeds.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17920" y="132588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4173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Entity Matching: A Survey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18288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Authors: Nils Barlaug and Jon Atle Gulla (ACM Computing Surveys, Vol. 54, No. 6, 2021)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0" y="2057400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for ReguLens AI:
</a:t>
            </a:r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Token-level similarity metrics (Dice's coefficient &amp; Levenshtein) reliably bridge abbreviations in institutional trust titles.
</a:t>
            </a:r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Combining exact alphanumeric matching for cadastral parcel IDs with fuzzy matching for organization names prevents false negatives.
</a:t>
            </a:r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Directly informs our dual-threshold name variation detection engine (86% benchmark score).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1520" y="3611880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7033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AI for Regulatory Compliance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68680" y="41148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Hoffmann, C. Biemann et al. (IEEE Access, 2022)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68680" y="4343400"/>
            <a:ext cx="31089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
</a:t>
            </a:r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in statutory reviews must act as an evidence-retrieving copilot rather than an automated judge.
</a:t>
            </a:r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Incorporating human reviewer affirmation preserves legal due process and audit integrity.
</a:t>
            </a:r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Validates ReguLens AI's human disposition sign-off architecture.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389120" y="3611880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37033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Explaining Black Boxes for High-Stakes Decisions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26280" y="41148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Cynthia Rudin (Nature Machine Intelligence, Vol. 1, 2019)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26280" y="4343400"/>
            <a:ext cx="31089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
</a:t>
            </a:r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High-stakes institutional approvals demand inherently interpretable models over post-hoc approximations.
</a:t>
            </a:r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Deterministic comparison rules prevent unexplained bias and ensure legal defensibility.
</a:t>
            </a:r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Grounds our zero-hallucination verification matrix.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046720" y="3611880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83880" y="3703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STATUTORY SOURCES &amp; LINKS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023360"/>
            <a:ext cx="31089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Guidelines Integrated:
</a:t>
            </a:r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AICTE Approval Process Handbook (2024-27)
  - Clause 4.1 (Land Title &amp; Contiguity)
  - Clause 2.4 (Legal Entity Title Verification)
</a:t>
            </a:r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National Building Code of India (NBC 2016)
  - Part 6 (Structural Stability Protocols)
</a:t>
            </a:r>
            <a:pPr indent="0" marL="0">
              <a:buNone/>
            </a:pPr>
            <a:r>
              <a:rPr lang="en-US" sz="78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 Fire Prevention &amp; Life Safety Act
</a:t>
            </a:r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 Links:
</a:t>
            </a:r>
            <a:pPr indent="0" marL="0">
              <a:buNone/>
            </a:pPr>
            <a:r>
              <a:rPr lang="en-US" sz="78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App: http://localhost:5173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GitHub: github.com/sathwikakukkadapu-coder/regulens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Hosted: regulens-ai.hatchable.site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2024 / 2025 • REGULATORY COMPLIANCE AUTOMATION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&amp; VERIFICATION DEMONSTRATION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875520" y="228600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228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ReguLens AI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6446520"/>
            <a:ext cx="1072865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ReguLens AI — Evidence-Led Regulatory Review Platform • Confidential SIH Submission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0" y="6492240"/>
            <a:ext cx="4327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 the Reviewer — Human Retains Statutory Discretion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00584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 executing the North Valley Institute benchmark case docket (SIH-DEMO-2026-014)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132588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49047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4904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 &amp; Analytics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834640" y="149047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Executive Reviewer Dashboard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1874520"/>
            <a:ext cx="48463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Live KPI Metric Cards: Total Cases, Documents, Pending Reviews, Open Findings, Missing-Document Alerts, Completed Reviews.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Recharts interactive Donut Chart for status breakdown and Bar Chart for findings by severity.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Filterable cases table with 1-click workspace opening.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49047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4904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Cadastral Text Stream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321040" y="149047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Document Verification Workspace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1874520"/>
            <a:ext cx="48463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Text Inspector: In-document keyword search with instant yellow text highlights.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Parameter Matrix: Automatically extracts Survey Number (142/3B), Plot #44, 12.5 Acres, and Issuing Authority.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Cryptographic SHA-256 fingerprinting with 1-click clipboard copy.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3886200"/>
            <a:ext cx="5212080" cy="2377440"/>
          </a:xfrm>
          <a:prstGeom prst="roundRect">
            <a:avLst>
              <a:gd name="adj" fmla="val 384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5079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507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 Comparison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834640" y="40507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Evidence-Linked Finding Triage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443484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Finding: Survey Number Mismatch — Land Deed (142/3B) vs Structural Report (142/8A).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Finding: Mandatory Fire Safety Certificate not detected in submitted exhibit bundle.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Inspector Triage Controls: Mark Under Review, Verify Discrepancy, Resolve, or Dismiss with recorded rationale.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3886200"/>
            <a:ext cx="5212080" cy="2377440"/>
          </a:xfrm>
          <a:prstGeom prst="roundRect">
            <a:avLst>
              <a:gd name="adj" fmla="val 384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405079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40507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Governance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321040" y="40507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Statutory Notice (RFE) &amp; PDF Export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443484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Form 4B Defect Notice: Generates official statutory clarification letter with 14-day compliance deadline.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 Reviewer Determination Block: Inspector records official disposition and rationale.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Official Signed PDF Report: Exports multi-page regulatory dossier formatted for board review.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2024 / 2025 • REGULATORY COMPLIANCE AUTOMATION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IMPLEMENTATION ROADMAP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875520" y="228600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228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ReguLens AI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6446520"/>
            <a:ext cx="1072865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ReguLens AI — Evidence-Led Regulatory Review Platform • Confidential SIH Submission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0" y="6492240"/>
            <a:ext cx="4327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 the Reviewer — Human Retains Statutory Discretion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051560"/>
            <a:ext cx="5120640" cy="5212080"/>
          </a:xfrm>
          <a:prstGeom prst="roundRect">
            <a:avLst>
              <a:gd name="adj" fmla="val 2679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 PROPOSITION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1645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ReguLens AI directly addresses the regulatory oversight bottleneck by combining deterministic precision with human-in-the-loop governance.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377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Explainable Verification: 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88720" y="26060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cites exact document lines, values, and handbook clauses.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05840" y="29443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Black-Box Bias: 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88720" y="31729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unconstrained LLMs making arbitrary approval or rejection claims.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05840" y="351129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Administrative Fairness: 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88720" y="373989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14-day defect notices provide institutions due process to clarify.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05840" y="407822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Audit-Ready Traceability: 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88720" y="430682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chronological logs protect inspecting officers during judicial appeals.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05840" y="46451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Production Scalability: 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88720" y="487375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to any regulatory authority through configurable rule matrices.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17920" y="105156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IMPLEMENTATION &amp; DEPLOYMENT ROADMAP :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1325880"/>
            <a:ext cx="52422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139903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Demonstrable Core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784080" y="1399032"/>
            <a:ext cx="1508760" cy="219456"/>
          </a:xfrm>
          <a:prstGeom prst="roundRect">
            <a:avLst>
              <a:gd name="adj" fmla="val 208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4080" y="139903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&amp; TESTED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355080" y="16459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docket creation, multi-format intake (TXT/CSV/JSON/PDF), deterministic cadastral mismatch engine, missing doc audit, interactive triage, automated Form 4B notice drafting, PDF dossier export.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217920" y="2286000"/>
            <a:ext cx="52422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235915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Multi-Page OCR &amp; LayoutLM Engine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784080" y="2359152"/>
            <a:ext cx="1508760" cy="219456"/>
          </a:xfrm>
          <a:prstGeom prst="roundRect">
            <a:avLst>
              <a:gd name="adj" fmla="val 208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84080" y="235915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 TARGET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355080" y="26060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open-source OCR (Tesseract / PaddleOCR) and LayoutLM spatial transformers for scanned historical revenue lease deeds with confidence scoring and bounding box highlighting.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217920" y="3246120"/>
            <a:ext cx="52422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331927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National Portal REST API Integration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784080" y="3319272"/>
            <a:ext cx="1508760" cy="219456"/>
          </a:xfrm>
          <a:prstGeom prst="roundRect">
            <a:avLst>
              <a:gd name="adj" fmla="val 208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84080" y="331927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 TARGET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355080" y="35661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ReguLens AI backend with central regulatory portals (AICTE National Portal / SWAYAM / State Land Title Registries) for direct API docket ingestion and clearance synchronization.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217920" y="4206240"/>
            <a:ext cx="52422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427939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4: Digital Signature &amp; Revocation Verification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784080" y="4279392"/>
            <a:ext cx="1508760" cy="219456"/>
          </a:xfrm>
          <a:prstGeom prst="roundRect">
            <a:avLst>
              <a:gd name="adj" fmla="val 208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84080" y="427939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 TARGET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355080" y="45262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validation of X.509 PKI digital certificate chains, timestamp authority (TSA) integrity, and OCSP/CRL revocation verification for electronic government clearance certificates.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217920" y="5166360"/>
            <a:ext cx="5242255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523951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5: Multi-Institutional Pilot &amp; Rollout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784080" y="5239512"/>
            <a:ext cx="1508760" cy="219456"/>
          </a:xfrm>
          <a:prstGeom prst="roundRect">
            <a:avLst>
              <a:gd name="adj" fmla="val 208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784080" y="523951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 TARGET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355080" y="54864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pilot across regional directorates evaluating review turnaround, seeded error detection rates, and inter-rater reviewer concordance before nationwide deployment.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2026-10-27T16:00:39Z</dcterms:created>
  <dcterms:modified xsi:type="dcterms:W3CDTF">2026-10-27T16:00:39Z</dcterms:modified>
</cp:coreProperties>
</file>